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4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9764" y="2284178"/>
            <a:ext cx="5760720" cy="5751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b="1" kern="0" spc="5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TOONIFY</a:t>
            </a:r>
            <a:endParaRPr lang="en-US" sz="2800" b="1" kern="0" spc="500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AI Cartoon Effect Generator</a:t>
            </a:r>
          </a:p>
          <a:p>
            <a:br>
              <a:rPr lang="en-IN" sz="2400" dirty="0"/>
            </a:br>
            <a:endParaRPr lang="en-IN" sz="24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50" name="Text Coordinator"/>
          <p:cNvSpPr/>
          <p:nvPr/>
        </p:nvSpPr>
        <p:spPr>
          <a:xfrm>
            <a:off x="281128" y="4460351"/>
            <a:ext cx="4800000" cy="4792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C9A7"/>
                </a:solidFill>
                <a:latin typeface="Calibri" panose="020F0502020204030204" pitchFamily="34" charset="0"/>
              </a:rPr>
              <a:t>Coordinator: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</a:rPr>
              <a:t>Anantha Lakshmi </a:t>
            </a:r>
            <a:endParaRPr lang="en-US" sz="1400" dirty="0"/>
          </a:p>
        </p:txBody>
      </p:sp>
      <p:sp>
        <p:nvSpPr>
          <p:cNvPr id="51" name="Text Mentor"/>
          <p:cNvSpPr/>
          <p:nvPr/>
        </p:nvSpPr>
        <p:spPr>
          <a:xfrm>
            <a:off x="291440" y="4010960"/>
            <a:ext cx="4800000" cy="689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7B2FBE"/>
                </a:solidFill>
                <a:latin typeface="Calibri" panose="020F0502020204030204" pitchFamily="34" charset="0"/>
              </a:rPr>
              <a:t>Mentor:  </a:t>
            </a:r>
            <a:r>
              <a:rPr lang="en-US" sz="1400" dirty="0" err="1">
                <a:solidFill>
                  <a:srgbClr val="FFFFFF"/>
                </a:solidFill>
                <a:latin typeface="Calibri" panose="020F0502020204030204" pitchFamily="34" charset="0"/>
              </a:rPr>
              <a:t>Thavayee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</a:rPr>
              <a:t> Annadurai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F1BAF-FE61-4390-059A-5CBE8435E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248" y="1000916"/>
            <a:ext cx="3444533" cy="2706387"/>
          </a:xfrm>
          <a:prstGeom prst="rect">
            <a:avLst/>
          </a:prstGeom>
        </p:spPr>
      </p:pic>
    </p:spTree>
  </p:cSld>
  <p:clrMapOvr>
    <a:masterClrMapping/>
  </p:clrMapOvr>
  <p:transition spd="med" advTm="0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0C15"/>
          </a:solidFill>
        </p:spPr>
      </p:sp>
      <p:sp>
        <p:nvSpPr>
          <p:cNvPr id="3" name="Shape 1"/>
          <p:cNvSpPr/>
          <p:nvPr/>
        </p:nvSpPr>
        <p:spPr>
          <a:xfrm>
            <a:off x="0" y="580720"/>
            <a:ext cx="9144000" cy="4572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anose="020B0A04020102020204" pitchFamily="34" charset="0"/>
              </a:rPr>
              <a:t>PROBLEM  STATEMENT</a:t>
            </a:r>
          </a:p>
        </p:txBody>
      </p:sp>
      <p:sp>
        <p:nvSpPr>
          <p:cNvPr id="6" name="Text 4"/>
          <p:cNvSpPr/>
          <p:nvPr/>
        </p:nvSpPr>
        <p:spPr>
          <a:xfrm>
            <a:off x="320040" y="720000"/>
            <a:ext cx="3840480" cy="3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3935"/>
                </a:solidFill>
                <a:latin typeface="Arial" panose="020B0604020202020204" pitchFamily="34" charset="0"/>
              </a:rPr>
              <a:t>The Problem</a:t>
            </a:r>
          </a:p>
        </p:txBody>
      </p:sp>
      <p:sp>
        <p:nvSpPr>
          <p:cNvPr id="7" name="Shape 5"/>
          <p:cNvSpPr/>
          <p:nvPr/>
        </p:nvSpPr>
        <p:spPr>
          <a:xfrm>
            <a:off x="320040" y="1055000"/>
            <a:ext cx="3840480" cy="0"/>
          </a:xfrm>
          <a:prstGeom prst="line">
            <a:avLst/>
          </a:prstGeom>
          <a:noFill/>
          <a:ln w="12700">
            <a:solidFill>
              <a:srgbClr val="E53935"/>
            </a:solidFill>
            <a:prstDash val="solid"/>
          </a:ln>
        </p:spPr>
      </p:sp>
      <p:sp>
        <p:nvSpPr>
          <p:cNvPr id="8" name="P1"/>
          <p:cNvSpPr/>
          <p:nvPr/>
        </p:nvSpPr>
        <p:spPr>
          <a:xfrm>
            <a:off x="320040" y="1217160"/>
            <a:ext cx="3900000" cy="9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7777"/>
                </a:solidFill>
                <a:latin typeface="Calibri" panose="020F0502020204030204" pitchFamily="34" charset="0"/>
              </a:rPr>
              <a:t>►  Expensive Tools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Photoshop &amp; similar tools are costly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and not accessible to everyone.</a:t>
            </a:r>
          </a:p>
        </p:txBody>
      </p:sp>
      <p:sp>
        <p:nvSpPr>
          <p:cNvPr id="9" name="P2"/>
          <p:cNvSpPr/>
          <p:nvPr/>
        </p:nvSpPr>
        <p:spPr>
          <a:xfrm>
            <a:off x="320040" y="2120000"/>
            <a:ext cx="3900000" cy="9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7777"/>
                </a:solidFill>
                <a:latin typeface="Calibri" panose="020F0502020204030204" pitchFamily="34" charset="0"/>
              </a:rPr>
              <a:t>►  Requires Design Skills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Steep learning curve blocks non-designers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from creating any cartoon effects.</a:t>
            </a:r>
          </a:p>
        </p:txBody>
      </p:sp>
      <p:sp>
        <p:nvSpPr>
          <p:cNvPr id="10" name="P3"/>
          <p:cNvSpPr/>
          <p:nvPr/>
        </p:nvSpPr>
        <p:spPr>
          <a:xfrm>
            <a:off x="320040" y="3160000"/>
            <a:ext cx="3900000" cy="9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7777"/>
                </a:solidFill>
                <a:latin typeface="Calibri" panose="020F0502020204030204" pitchFamily="34" charset="0"/>
              </a:rPr>
              <a:t>►  Slow Bulk Processing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Converting many images or videos manually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takes hours with no automation support.</a:t>
            </a:r>
          </a:p>
        </p:txBody>
      </p:sp>
      <p:sp>
        <p:nvSpPr>
          <p:cNvPr id="20" name="Divider"/>
          <p:cNvSpPr/>
          <p:nvPr/>
        </p:nvSpPr>
        <p:spPr>
          <a:xfrm>
            <a:off x="4572000" y="727034"/>
            <a:ext cx="0" cy="3600000"/>
          </a:xfrm>
          <a:prstGeom prst="line">
            <a:avLst/>
          </a:prstGeom>
          <a:noFill/>
          <a:ln w="12700">
            <a:solidFill>
              <a:srgbClr val="1A3A5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720000"/>
            <a:ext cx="3840480" cy="3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9A7"/>
                </a:solidFill>
                <a:latin typeface="Arial" panose="020B0604020202020204" pitchFamily="34" charset="0"/>
              </a:rPr>
              <a:t>Toonify Solves This</a:t>
            </a:r>
          </a:p>
        </p:txBody>
      </p:sp>
      <p:sp>
        <p:nvSpPr>
          <p:cNvPr id="14" name="Shape 12"/>
          <p:cNvSpPr/>
          <p:nvPr/>
        </p:nvSpPr>
        <p:spPr>
          <a:xfrm>
            <a:off x="4937760" y="1055000"/>
            <a:ext cx="384048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5" name="S1"/>
          <p:cNvSpPr/>
          <p:nvPr/>
        </p:nvSpPr>
        <p:spPr>
          <a:xfrm>
            <a:off x="4937760" y="1262880"/>
            <a:ext cx="3900000" cy="934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anose="020F0502020204030204" pitchFamily="34" charset="0"/>
              </a:rPr>
              <a:t>►  One-Click Web App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Instant browser-based tool — no install,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no expertise required.</a:t>
            </a:r>
          </a:p>
        </p:txBody>
      </p:sp>
      <p:sp>
        <p:nvSpPr>
          <p:cNvPr id="16" name="S2"/>
          <p:cNvSpPr/>
          <p:nvPr/>
        </p:nvSpPr>
        <p:spPr>
          <a:xfrm>
            <a:off x="4937760" y="2120000"/>
            <a:ext cx="3900000" cy="9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anose="020F0502020204030204" pitchFamily="34" charset="0"/>
              </a:rPr>
              <a:t>►  AI-Powered Effects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Smart AI applies cartoon &amp; sketch effects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automatically with zero manual effort.</a:t>
            </a:r>
          </a:p>
        </p:txBody>
      </p:sp>
      <p:sp>
        <p:nvSpPr>
          <p:cNvPr id="17" name="S3"/>
          <p:cNvSpPr/>
          <p:nvPr/>
        </p:nvSpPr>
        <p:spPr>
          <a:xfrm>
            <a:off x="4937760" y="3160000"/>
            <a:ext cx="3900000" cy="9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anose="020F0502020204030204" pitchFamily="34" charset="0"/>
              </a:rPr>
              <a:t>►  Images &amp; Videos in One Platform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Handles both photos and full videos with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frame-by-frame cartoon transformation.</a:t>
            </a:r>
          </a:p>
        </p:txBody>
      </p:sp>
    </p:spTree>
  </p:cSld>
  <p:clrMapOvr>
    <a:masterClrMapping/>
  </p:clrMapOvr>
  <p:transition spd="med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0C15"/>
          </a:solidFill>
          <a:ln w="12700">
            <a:solidFill>
              <a:srgbClr val="030C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867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  STACK</a:t>
            </a:r>
            <a:endParaRPr lang="en-US" sz="2600" dirty="0"/>
          </a:p>
        </p:txBody>
      </p:sp>
      <p:pic>
        <p:nvPicPr>
          <p:cNvPr id="6" name="logo_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50000"/>
            <a:ext cx="594360" cy="481999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987552" y="76800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3.x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87552" y="1250000"/>
            <a:ext cx="3474720" cy="0"/>
          </a:xfrm>
          <a:prstGeom prst="line">
            <a:avLst/>
          </a:prstGeom>
          <a:noFill/>
          <a:ln w="10160">
            <a:solidFill>
              <a:srgbClr val="377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0000"/>
            <a:ext cx="4069080" cy="31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Core backend language for all processing logic</a:t>
            </a:r>
            <a:endParaRPr lang="en-US" sz="1350" dirty="0"/>
          </a:p>
        </p:txBody>
      </p:sp>
      <p:pic>
        <p:nvPicPr>
          <p:cNvPr id="11" name="logo_openc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750000"/>
            <a:ext cx="594360" cy="500000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5422392" y="76800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OpenCV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22392" y="1250000"/>
            <a:ext cx="3474720" cy="0"/>
          </a:xfrm>
          <a:prstGeom prst="line">
            <a:avLst/>
          </a:prstGeom>
          <a:noFill/>
          <a:ln w="1016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90000"/>
            <a:ext cx="4069080" cy="31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Image &amp; video processing — filters, edges, bilateral</a:t>
            </a:r>
            <a:endParaRPr lang="en-US" sz="1350" dirty="0"/>
          </a:p>
        </p:txBody>
      </p:sp>
      <p:pic>
        <p:nvPicPr>
          <p:cNvPr id="16" name="logo_streaml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1737639"/>
            <a:ext cx="594360" cy="460000"/>
          </a:xfrm>
          <a:prstGeom prst="rect">
            <a:avLst/>
          </a:prstGeom>
        </p:spPr>
      </p:pic>
      <p:sp>
        <p:nvSpPr>
          <p:cNvPr id="18" name="Text 16"/>
          <p:cNvSpPr/>
          <p:nvPr/>
        </p:nvSpPr>
        <p:spPr>
          <a:xfrm>
            <a:off x="987552" y="1759397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87552" y="2180000"/>
            <a:ext cx="3474720" cy="0"/>
          </a:xfrm>
          <a:prstGeom prst="line">
            <a:avLst/>
          </a:prstGeom>
          <a:noFill/>
          <a:ln w="1016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93212"/>
            <a:ext cx="4069080" cy="4600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Web UI built with Streamlit, HTML &amp; JS for upload, preview &amp; download</a:t>
            </a:r>
            <a:endParaRPr lang="en-US" sz="1350" dirty="0"/>
          </a:p>
        </p:txBody>
      </p:sp>
      <p:pic>
        <p:nvPicPr>
          <p:cNvPr id="21" name="logo_htm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30" y="1887261"/>
            <a:ext cx="594360" cy="388000"/>
          </a:xfrm>
          <a:prstGeom prst="rect">
            <a:avLst/>
          </a:prstGeom>
        </p:spPr>
      </p:pic>
      <p:sp>
        <p:nvSpPr>
          <p:cNvPr id="23" name="Text 21"/>
          <p:cNvSpPr/>
          <p:nvPr/>
        </p:nvSpPr>
        <p:spPr>
          <a:xfrm>
            <a:off x="5422392" y="1801133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 / CSS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22392" y="2180000"/>
            <a:ext cx="3474720" cy="0"/>
          </a:xfrm>
          <a:prstGeom prst="line">
            <a:avLst/>
          </a:prstGeom>
          <a:noFill/>
          <a:ln w="10160">
            <a:solidFill>
              <a:srgbClr val="377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292000"/>
            <a:ext cx="4069080" cy="5079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Structured UI layout, styling &amp; responsive design elements</a:t>
            </a:r>
            <a:endParaRPr lang="en-US" sz="1350" dirty="0"/>
          </a:p>
        </p:txBody>
      </p:sp>
      <p:pic>
        <p:nvPicPr>
          <p:cNvPr id="40" name="logo_reac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68" y="3244359"/>
            <a:ext cx="594360" cy="444360"/>
          </a:xfrm>
          <a:prstGeom prst="rect">
            <a:avLst/>
          </a:prstGeom>
        </p:spPr>
      </p:pic>
      <p:sp>
        <p:nvSpPr>
          <p:cNvPr id="41" name="Text React"/>
          <p:cNvSpPr/>
          <p:nvPr/>
        </p:nvSpPr>
        <p:spPr>
          <a:xfrm>
            <a:off x="946404" y="3268533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</a:t>
            </a:r>
            <a:endParaRPr lang="en-US" sz="1900" dirty="0"/>
          </a:p>
        </p:txBody>
      </p:sp>
      <p:sp>
        <p:nvSpPr>
          <p:cNvPr id="42" name="Line React"/>
          <p:cNvSpPr/>
          <p:nvPr/>
        </p:nvSpPr>
        <p:spPr>
          <a:xfrm>
            <a:off x="795528" y="3731962"/>
            <a:ext cx="3474720" cy="0"/>
          </a:xfrm>
          <a:prstGeom prst="line">
            <a:avLst/>
          </a:prstGeom>
          <a:noFill/>
          <a:ln w="10160">
            <a:solidFill>
              <a:srgbClr val="61DAFB"/>
            </a:solidFill>
            <a:prstDash val="solid"/>
          </a:ln>
        </p:spPr>
      </p:sp>
      <p:sp>
        <p:nvSpPr>
          <p:cNvPr id="43" name="Desc React"/>
          <p:cNvSpPr/>
          <p:nvPr/>
        </p:nvSpPr>
        <p:spPr>
          <a:xfrm>
            <a:off x="411480" y="3783214"/>
            <a:ext cx="4069080" cy="31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►  Component-based UI library for dynamic web apps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22392" y="262800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4846320" y="3149999"/>
            <a:ext cx="4069080" cy="411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60" name="Text Vue"/>
          <p:cNvSpPr/>
          <p:nvPr/>
        </p:nvSpPr>
        <p:spPr>
          <a:xfrm>
            <a:off x="987552" y="355800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62" name="Desc Vue"/>
          <p:cNvSpPr/>
          <p:nvPr/>
        </p:nvSpPr>
        <p:spPr>
          <a:xfrm>
            <a:off x="411480" y="4174529"/>
            <a:ext cx="4069080" cy="4396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63" name="Text SQLite"/>
          <p:cNvSpPr/>
          <p:nvPr/>
        </p:nvSpPr>
        <p:spPr>
          <a:xfrm>
            <a:off x="5440680" y="3212789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</a:rPr>
              <a:t>SQLite</a:t>
            </a:r>
            <a:endParaRPr lang="en-US" sz="1900" dirty="0"/>
          </a:p>
        </p:txBody>
      </p:sp>
      <p:sp>
        <p:nvSpPr>
          <p:cNvPr id="64" name="Line SQLite"/>
          <p:cNvSpPr/>
          <p:nvPr/>
        </p:nvSpPr>
        <p:spPr>
          <a:xfrm>
            <a:off x="5394960" y="3653138"/>
            <a:ext cx="3474720" cy="0"/>
          </a:xfrm>
          <a:prstGeom prst="line">
            <a:avLst/>
          </a:prstGeom>
          <a:noFill/>
          <a:ln w="10160">
            <a:solidFill>
              <a:srgbClr val="003B6F"/>
            </a:solidFill>
            <a:prstDash val="solid"/>
          </a:ln>
        </p:spPr>
      </p:sp>
      <p:sp>
        <p:nvSpPr>
          <p:cNvPr id="65" name="Desc SQLite"/>
          <p:cNvSpPr/>
          <p:nvPr/>
        </p:nvSpPr>
        <p:spPr>
          <a:xfrm>
            <a:off x="4846320" y="3840362"/>
            <a:ext cx="4069080" cy="553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D4"/>
                </a:solidFill>
                <a:latin typeface="Calibri" panose="020F0502020204030204" pitchFamily="34" charset="0"/>
              </a:rPr>
              <a:t>►  Lightweight database for user data, credits &amp; session storage</a:t>
            </a:r>
            <a:endParaRPr lang="en-US" sz="1350" dirty="0"/>
          </a:p>
        </p:txBody>
      </p:sp>
      <p:pic>
        <p:nvPicPr>
          <p:cNvPr id="201" name="logo_sqlit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268733"/>
            <a:ext cx="594360" cy="310000"/>
          </a:xfrm>
          <a:prstGeom prst="rect">
            <a:avLst/>
          </a:prstGeom>
        </p:spPr>
      </p:pic>
    </p:spTree>
  </p:cSld>
  <p:clrMapOvr>
    <a:masterClrMapping/>
  </p:clrMapOvr>
  <p:transition spd="med" advTm="0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0C15"/>
          </a:solidFill>
          <a:ln w="12700">
            <a:solidFill>
              <a:srgbClr val="030C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CHALLENGES  &amp;  SOLUTIONS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90000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60000"/>
            <a:ext cx="3931920" cy="0"/>
          </a:xfrm>
          <a:prstGeom prst="line">
            <a:avLst/>
          </a:prstGeom>
          <a:noFill/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0000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260000"/>
            <a:ext cx="393192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000" y="1380000"/>
            <a:ext cx="3700000" cy="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  Real-Time Video Processing Lag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9999" y="2594498"/>
            <a:ext cx="3930551" cy="562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777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FF777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   Inconsistent Quality on Varied                    Images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800000"/>
            <a:ext cx="0" cy="3600000"/>
          </a:xfrm>
          <a:prstGeom prst="line">
            <a:avLst/>
          </a:prstGeom>
          <a:noFill/>
          <a:ln w="12700">
            <a:solidFill>
              <a:srgbClr val="1A3A5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149999" y="1379999"/>
            <a:ext cx="3929993" cy="4699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Frame Batch Processing +</a:t>
            </a:r>
            <a:r>
              <a:rPr lang="en-US" sz="1600" b="1" dirty="0" err="1">
                <a:solidFill>
                  <a:srgbClr val="00C9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MoviePy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8240" y="2675497"/>
            <a:ext cx="3700000" cy="4232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  Adaptive Preprocessing Pipeline</a:t>
            </a:r>
            <a:endParaRPr lang="en-US" sz="1600" dirty="0"/>
          </a:p>
        </p:txBody>
      </p:sp>
      <p:sp>
        <p:nvSpPr>
          <p:cNvPr id="100" name="Icon C1"/>
          <p:cNvSpPr/>
          <p:nvPr/>
        </p:nvSpPr>
        <p:spPr>
          <a:xfrm>
            <a:off x="246767" y="1471500"/>
            <a:ext cx="183000" cy="183000"/>
          </a:xfrm>
          <a:prstGeom prst="ellipse">
            <a:avLst/>
          </a:prstGeom>
          <a:solidFill>
            <a:srgbClr val="E53935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Desc C1"/>
          <p:cNvSpPr/>
          <p:nvPr/>
        </p:nvSpPr>
        <p:spPr>
          <a:xfrm>
            <a:off x="351081" y="1765998"/>
            <a:ext cx="3931920" cy="7170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8D4"/>
                </a:solidFill>
                <a:latin typeface="Calibri" panose="020F0502020204030204" pitchFamily="34" charset="0"/>
              </a:rPr>
              <a:t>Heavy CPU load during video rendering causes frame drops and delay</a:t>
            </a:r>
            <a:endParaRPr lang="en-US" sz="1400" dirty="0"/>
          </a:p>
        </p:txBody>
      </p:sp>
      <p:sp>
        <p:nvSpPr>
          <p:cNvPr id="102" name="Icon C2"/>
          <p:cNvSpPr/>
          <p:nvPr/>
        </p:nvSpPr>
        <p:spPr>
          <a:xfrm>
            <a:off x="194053" y="2786574"/>
            <a:ext cx="183000" cy="183000"/>
          </a:xfrm>
          <a:prstGeom prst="ellipse">
            <a:avLst/>
          </a:prstGeom>
          <a:solidFill>
            <a:srgbClr val="E53935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3" name="Desc C2"/>
          <p:cNvSpPr/>
          <p:nvPr/>
        </p:nvSpPr>
        <p:spPr>
          <a:xfrm>
            <a:off x="320040" y="3250146"/>
            <a:ext cx="3931920" cy="7099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8D4"/>
                </a:solidFill>
                <a:latin typeface="Calibri" panose="020F0502020204030204" pitchFamily="34" charset="0"/>
              </a:rPr>
              <a:t>Different resolutions &amp; lighting conditions degrade cartoon output quality</a:t>
            </a:r>
            <a:endParaRPr lang="en-US" sz="1400" dirty="0"/>
          </a:p>
        </p:txBody>
      </p:sp>
      <p:sp>
        <p:nvSpPr>
          <p:cNvPr id="104" name="Icon S1"/>
          <p:cNvSpPr/>
          <p:nvPr/>
        </p:nvSpPr>
        <p:spPr>
          <a:xfrm>
            <a:off x="4761794" y="1512543"/>
            <a:ext cx="183000" cy="183000"/>
          </a:xfrm>
          <a:prstGeom prst="ellipse">
            <a:avLst/>
          </a:prstGeom>
          <a:solidFill>
            <a:srgbClr val="00C9A7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5" name="Desc S1"/>
          <p:cNvSpPr/>
          <p:nvPr/>
        </p:nvSpPr>
        <p:spPr>
          <a:xfrm>
            <a:off x="4937760" y="1849999"/>
            <a:ext cx="3931920" cy="54999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8D4"/>
                </a:solidFill>
                <a:latin typeface="Calibri" panose="020F0502020204030204" pitchFamily="34" charset="0"/>
              </a:rPr>
              <a:t>Frames are grouped and processed together using MoviePy, reducing lag</a:t>
            </a:r>
            <a:endParaRPr lang="en-US" sz="1400" dirty="0"/>
          </a:p>
        </p:txBody>
      </p:sp>
      <p:sp>
        <p:nvSpPr>
          <p:cNvPr id="106" name="Icon S2"/>
          <p:cNvSpPr/>
          <p:nvPr/>
        </p:nvSpPr>
        <p:spPr>
          <a:xfrm>
            <a:off x="4782896" y="2740794"/>
            <a:ext cx="183000" cy="183000"/>
          </a:xfrm>
          <a:prstGeom prst="ellipse">
            <a:avLst/>
          </a:prstGeom>
          <a:solidFill>
            <a:srgbClr val="00C9A7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Desc S2"/>
          <p:cNvSpPr/>
          <p:nvPr/>
        </p:nvSpPr>
        <p:spPr>
          <a:xfrm>
            <a:off x="4937760" y="2869999"/>
            <a:ext cx="3931920" cy="1090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8D4"/>
                </a:solidFill>
                <a:latin typeface="Calibri" panose="020F0502020204030204" pitchFamily="34" charset="0"/>
              </a:rPr>
              <a:t>Smart preprocessing normalizes brightness &amp; contrast before applying effects</a:t>
            </a:r>
            <a:endParaRPr lang="en-US" sz="14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A641F864-AA0A-8042-7B20-06639D23B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93" y="2786574"/>
            <a:ext cx="329184" cy="351308"/>
          </a:xfrm>
          <a:prstGeom prst="rect">
            <a:avLst/>
          </a:prstGeom>
        </p:spPr>
      </p:pic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0559C9DF-409D-2164-ADCE-65FA43662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43384"/>
            <a:ext cx="329184" cy="276894"/>
          </a:xfrm>
          <a:prstGeom prst="rect">
            <a:avLst/>
          </a:prstGeom>
        </p:spPr>
      </p:pic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887D2269-44B6-AF74-B5D3-2B49952E9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1492756"/>
            <a:ext cx="329184" cy="287244"/>
          </a:xfrm>
          <a:prstGeom prst="rect">
            <a:avLst/>
          </a:prstGeom>
        </p:spPr>
      </p:pic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BE81C65B-2C39-DADF-9233-5595B7883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380" y="2724320"/>
            <a:ext cx="279012" cy="375076"/>
          </a:xfrm>
          <a:prstGeom prst="rect">
            <a:avLst/>
          </a:prstGeom>
        </p:spPr>
      </p:pic>
    </p:spTree>
  </p:cSld>
  <p:clrMapOvr>
    <a:masterClrMapping/>
  </p:clrMapOvr>
  <p:transition spd="med" advTm="0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0C15"/>
          </a:solidFill>
        </p:spPr>
      </p:sp>
      <p:sp>
        <p:nvSpPr>
          <p:cNvPr id="3" name="Accent Line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4" name="Left 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5" name="Title"/>
          <p:cNvSpPr/>
          <p:nvPr/>
        </p:nvSpPr>
        <p:spPr>
          <a:xfrm>
            <a:off x="274320" y="0"/>
            <a:ext cx="8503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anose="020B0A04020102020204" pitchFamily="34" charset="0"/>
              </a:rPr>
              <a:t>KEY  ACHIEVEMENTS</a:t>
            </a:r>
          </a:p>
        </p:txBody>
      </p:sp>
      <p:sp>
        <p:nvSpPr>
          <p:cNvPr id="10" name="Card1 BG"/>
          <p:cNvSpPr/>
          <p:nvPr/>
        </p:nvSpPr>
        <p:spPr>
          <a:xfrm>
            <a:off x="182880" y="950000"/>
            <a:ext cx="4160000" cy="900000"/>
          </a:xfrm>
          <a:prstGeom prst="roundRect">
            <a:avLst>
              <a:gd name="adj" fmla="val 20000"/>
            </a:avLst>
          </a:prstGeom>
          <a:solidFill>
            <a:srgbClr val="0D1F33"/>
          </a:solidFill>
          <a:ln w="19050">
            <a:solidFill>
              <a:srgbClr val="7B2FBE"/>
            </a:solidFill>
          </a:ln>
        </p:spPr>
      </p:sp>
      <p:sp>
        <p:nvSpPr>
          <p:cNvPr id="11" name="Card1 Label"/>
          <p:cNvSpPr/>
          <p:nvPr/>
        </p:nvSpPr>
        <p:spPr>
          <a:xfrm>
            <a:off x="350000" y="990000"/>
            <a:ext cx="3800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  <a:latin typeface="Arial" panose="020B0604020202020204" pitchFamily="34" charset="0"/>
              </a:rPr>
              <a:t>🎨 Cartoon Styles</a:t>
            </a:r>
          </a:p>
        </p:txBody>
      </p:sp>
      <p:sp>
        <p:nvSpPr>
          <p:cNvPr id="12" name="Card1 Text"/>
          <p:cNvSpPr/>
          <p:nvPr/>
        </p:nvSpPr>
        <p:spPr>
          <a:xfrm>
            <a:off x="350000" y="1290000"/>
            <a:ext cx="3950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anose="020F0502020204030204" pitchFamily="34" charset="0"/>
              </a:rPr>
              <a:t>Classic Cartoon, Pencil Sketch &amp; Color effects with adjustable intensity</a:t>
            </a:r>
          </a:p>
        </p:txBody>
      </p:sp>
      <p:sp>
        <p:nvSpPr>
          <p:cNvPr id="20" name="Card2 BG"/>
          <p:cNvSpPr/>
          <p:nvPr/>
        </p:nvSpPr>
        <p:spPr>
          <a:xfrm>
            <a:off x="4800000" y="950000"/>
            <a:ext cx="4160000" cy="900000"/>
          </a:xfrm>
          <a:prstGeom prst="roundRect">
            <a:avLst>
              <a:gd name="adj" fmla="val 20000"/>
            </a:avLst>
          </a:prstGeom>
          <a:solidFill>
            <a:srgbClr val="0D1F33"/>
          </a:solidFill>
          <a:ln w="19050">
            <a:solidFill>
              <a:srgbClr val="E53935"/>
            </a:solidFill>
          </a:ln>
        </p:spPr>
      </p:sp>
      <p:sp>
        <p:nvSpPr>
          <p:cNvPr id="21" name="Card2 Label"/>
          <p:cNvSpPr/>
          <p:nvPr/>
        </p:nvSpPr>
        <p:spPr>
          <a:xfrm>
            <a:off x="4960000" y="990000"/>
            <a:ext cx="3800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3935"/>
                </a:solidFill>
                <a:latin typeface="Arial" panose="020B0604020202020204" pitchFamily="34" charset="0"/>
              </a:rPr>
              <a:t>🎥 Video Support</a:t>
            </a:r>
          </a:p>
        </p:txBody>
      </p:sp>
      <p:sp>
        <p:nvSpPr>
          <p:cNvPr id="22" name="Card2 Text"/>
          <p:cNvSpPr/>
          <p:nvPr/>
        </p:nvSpPr>
        <p:spPr>
          <a:xfrm>
            <a:off x="4960000" y="1290000"/>
            <a:ext cx="3950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anose="020F0502020204030204" pitchFamily="34" charset="0"/>
              </a:rPr>
              <a:t>Full video transformation, frame-by-frame cartoon rendering via MoviePy</a:t>
            </a:r>
          </a:p>
        </p:txBody>
      </p:sp>
      <p:sp>
        <p:nvSpPr>
          <p:cNvPr id="30" name="Card3 BG"/>
          <p:cNvSpPr/>
          <p:nvPr/>
        </p:nvSpPr>
        <p:spPr>
          <a:xfrm>
            <a:off x="182880" y="1950000"/>
            <a:ext cx="4160000" cy="900000"/>
          </a:xfrm>
          <a:prstGeom prst="roundRect">
            <a:avLst>
              <a:gd name="adj" fmla="val 20000"/>
            </a:avLst>
          </a:prstGeom>
          <a:solidFill>
            <a:srgbClr val="0D1F33"/>
          </a:solidFill>
          <a:ln w="19050">
            <a:solidFill>
              <a:srgbClr val="00C9A7"/>
            </a:solidFill>
          </a:ln>
        </p:spPr>
      </p:sp>
      <p:sp>
        <p:nvSpPr>
          <p:cNvPr id="31" name="Card3 Label"/>
          <p:cNvSpPr/>
          <p:nvPr/>
        </p:nvSpPr>
        <p:spPr>
          <a:xfrm>
            <a:off x="350000" y="1990000"/>
            <a:ext cx="3800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Arial" panose="020B0604020202020204" pitchFamily="34" charset="0"/>
              </a:rPr>
              <a:t>🌐 Web App</a:t>
            </a:r>
          </a:p>
        </p:txBody>
      </p:sp>
      <p:sp>
        <p:nvSpPr>
          <p:cNvPr id="32" name="Card3 Text"/>
          <p:cNvSpPr/>
          <p:nvPr/>
        </p:nvSpPr>
        <p:spPr>
          <a:xfrm>
            <a:off x="350000" y="2290000"/>
            <a:ext cx="3950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anose="020F0502020204030204" pitchFamily="34" charset="0"/>
              </a:rPr>
              <a:t>Streamlit UI with side-by-side original vs. cartoon image comparison</a:t>
            </a:r>
          </a:p>
        </p:txBody>
      </p:sp>
      <p:sp>
        <p:nvSpPr>
          <p:cNvPr id="40" name="Card4 BG"/>
          <p:cNvSpPr/>
          <p:nvPr/>
        </p:nvSpPr>
        <p:spPr>
          <a:xfrm>
            <a:off x="4800000" y="1950000"/>
            <a:ext cx="4160000" cy="900000"/>
          </a:xfrm>
          <a:prstGeom prst="roundRect">
            <a:avLst>
              <a:gd name="adj" fmla="val 20000"/>
            </a:avLst>
          </a:prstGeom>
          <a:solidFill>
            <a:srgbClr val="0D1F33"/>
          </a:solidFill>
          <a:ln w="19050">
            <a:solidFill>
              <a:srgbClr val="F59E0B"/>
            </a:solidFill>
          </a:ln>
        </p:spPr>
      </p:sp>
      <p:sp>
        <p:nvSpPr>
          <p:cNvPr id="41" name="Card4 Label"/>
          <p:cNvSpPr/>
          <p:nvPr/>
        </p:nvSpPr>
        <p:spPr>
          <a:xfrm>
            <a:off x="4960000" y="1990000"/>
            <a:ext cx="3800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anose="020B0604020202020204" pitchFamily="34" charset="0"/>
              </a:rPr>
              <a:t>🌓 5+ Filters &amp; Frames</a:t>
            </a:r>
          </a:p>
        </p:txBody>
      </p:sp>
      <p:sp>
        <p:nvSpPr>
          <p:cNvPr id="42" name="Card4 Text"/>
          <p:cNvSpPr/>
          <p:nvPr/>
        </p:nvSpPr>
        <p:spPr>
          <a:xfrm>
            <a:off x="4960000" y="2290000"/>
            <a:ext cx="3950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anose="020F0502020204030204" pitchFamily="34" charset="0"/>
              </a:rPr>
              <a:t>B&amp;W, Infrared, Moon, X-Pro II filters + decorative frame overlays</a:t>
            </a:r>
          </a:p>
        </p:txBody>
      </p:sp>
      <p:sp>
        <p:nvSpPr>
          <p:cNvPr id="50" name="Card5 BG"/>
          <p:cNvSpPr/>
          <p:nvPr/>
        </p:nvSpPr>
        <p:spPr>
          <a:xfrm>
            <a:off x="182880" y="2950000"/>
            <a:ext cx="4160000" cy="900000"/>
          </a:xfrm>
          <a:prstGeom prst="roundRect">
            <a:avLst>
              <a:gd name="adj" fmla="val 20000"/>
            </a:avLst>
          </a:prstGeom>
          <a:solidFill>
            <a:srgbClr val="0D1F33"/>
          </a:solidFill>
          <a:ln w="19050">
            <a:solidFill>
              <a:srgbClr val="3776AB"/>
            </a:solidFill>
          </a:ln>
        </p:spPr>
      </p:sp>
      <p:sp>
        <p:nvSpPr>
          <p:cNvPr id="51" name="Card5 Label"/>
          <p:cNvSpPr/>
          <p:nvPr/>
        </p:nvSpPr>
        <p:spPr>
          <a:xfrm>
            <a:off x="350000" y="2990000"/>
            <a:ext cx="3800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76AB"/>
                </a:solidFill>
                <a:latin typeface="Arial" panose="020B0604020202020204" pitchFamily="34" charset="0"/>
              </a:rPr>
              <a:t>🔒 Secure Auth</a:t>
            </a:r>
          </a:p>
        </p:txBody>
      </p:sp>
      <p:sp>
        <p:nvSpPr>
          <p:cNvPr id="52" name="Card5 Text"/>
          <p:cNvSpPr/>
          <p:nvPr/>
        </p:nvSpPr>
        <p:spPr>
          <a:xfrm>
            <a:off x="350000" y="3290000"/>
            <a:ext cx="3950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anose="020F0502020204030204" pitchFamily="34" charset="0"/>
              </a:rPr>
              <a:t>User login + 1 credit per download via integrated payment gateway</a:t>
            </a:r>
          </a:p>
        </p:txBody>
      </p:sp>
      <p:sp>
        <p:nvSpPr>
          <p:cNvPr id="60" name="Card6 BG"/>
          <p:cNvSpPr/>
          <p:nvPr/>
        </p:nvSpPr>
        <p:spPr>
          <a:xfrm>
            <a:off x="4800000" y="2950000"/>
            <a:ext cx="4160000" cy="900000"/>
          </a:xfrm>
          <a:prstGeom prst="roundRect">
            <a:avLst>
              <a:gd name="adj" fmla="val 20000"/>
            </a:avLst>
          </a:prstGeom>
          <a:solidFill>
            <a:srgbClr val="0D1F33"/>
          </a:solidFill>
          <a:ln w="19050">
            <a:solidFill>
              <a:srgbClr val="A855F7"/>
            </a:solidFill>
          </a:ln>
        </p:spPr>
      </p:sp>
      <p:sp>
        <p:nvSpPr>
          <p:cNvPr id="61" name="Card6 Label"/>
          <p:cNvSpPr/>
          <p:nvPr/>
        </p:nvSpPr>
        <p:spPr>
          <a:xfrm>
            <a:off x="4960000" y="2990000"/>
            <a:ext cx="3800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anose="020B0604020202020204" pitchFamily="34" charset="0"/>
              </a:rPr>
              <a:t>⚡ AI-Powered</a:t>
            </a:r>
          </a:p>
        </p:txBody>
      </p:sp>
      <p:sp>
        <p:nvSpPr>
          <p:cNvPr id="62" name="Card6 Text"/>
          <p:cNvSpPr/>
          <p:nvPr/>
        </p:nvSpPr>
        <p:spPr>
          <a:xfrm>
            <a:off x="4960000" y="3290000"/>
            <a:ext cx="3950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anose="020F0502020204030204" pitchFamily="34" charset="0"/>
              </a:rPr>
              <a:t>OpenCV + bilateral filters for smart, automatic cartoon generation</a:t>
            </a:r>
          </a:p>
        </p:txBody>
      </p:sp>
    </p:spTree>
  </p:cSld>
  <p:clrMapOvr>
    <a:masterClrMapping/>
  </p:clrMapOvr>
  <p:transition spd="med" advTm="0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0C15"/>
          </a:solidFill>
          <a:ln w="12700">
            <a:solidFill>
              <a:srgbClr val="030C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FUTURE 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475488" cy="4754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841248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GAN-Based Style Transfer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243584"/>
            <a:ext cx="3749040" cy="0"/>
          </a:xfrm>
          <a:prstGeom prst="line">
            <a:avLst/>
          </a:prstGeom>
          <a:noFill/>
          <a:ln w="889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44168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Integrate CartoonGAN / AnimeGAN for photorealistic cartoon styles beyond OpenCV filters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5773" y="2264898"/>
            <a:ext cx="475488" cy="47548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3026" y="2258568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722802"/>
            <a:ext cx="3749040" cy="0"/>
          </a:xfrm>
          <a:prstGeom prst="line">
            <a:avLst/>
          </a:prstGeom>
          <a:noFill/>
          <a:ln w="8890">
            <a:solidFill>
              <a:srgbClr val="377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267" y="2848356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React Native / Flutter app for real-time on-device cartoon effects using mobile GPU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475488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66744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3621024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Webcam Filter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023360"/>
            <a:ext cx="3749040" cy="0"/>
          </a:xfrm>
          <a:prstGeom prst="line">
            <a:avLst/>
          </a:prstGeom>
          <a:noFill/>
          <a:ln w="889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23944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Real-time cartoon filter on live webcam stream for interactive demos &amp; content creation</a:t>
            </a:r>
            <a:endParaRPr lang="en-US" sz="1100" dirty="0"/>
          </a:p>
        </p:txBody>
      </p:sp>
      <p:pic>
        <p:nvPicPr>
          <p:cNvPr id="1034" name="Picture 10" descr="Behind the Scenes: How AI Cartoon Filter Turns Pixels into Portraits">
            <a:extLst>
              <a:ext uri="{FF2B5EF4-FFF2-40B4-BE49-F238E27FC236}">
                <a16:creationId xmlns:a16="http://schemas.microsoft.com/office/drawing/2014/main" id="{CD5BA1B6-06E8-8C0F-8351-38489D19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379" y="942536"/>
            <a:ext cx="3990301" cy="370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 advTm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0C15"/>
          </a:solidFill>
        </p:spPr>
      </p:sp>
      <p:sp>
        <p:nvSpPr>
          <p:cNvPr id="3" name="Accent Line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4" name="Left 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5" name="Title"/>
          <p:cNvSpPr/>
          <p:nvPr/>
        </p:nvSpPr>
        <p:spPr>
          <a:xfrm>
            <a:off x="274320" y="0"/>
            <a:ext cx="8503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6" name="Conclusion Text"/>
          <p:cNvSpPr/>
          <p:nvPr/>
        </p:nvSpPr>
        <p:spPr>
          <a:xfrm>
            <a:off x="457200" y="1362456"/>
            <a:ext cx="8229600" cy="1380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</a:rPr>
              <a:t>Toonify delivers a complete end-to-end AI-powered platform transforming both images and videos into stunning cartoon styles. Built with OpenCV and Streamlit, it makes creative cartoon effects accessible to everyone — from artists and designers to everyday users.</a:t>
            </a:r>
          </a:p>
        </p:txBody>
      </p:sp>
    </p:spTree>
  </p:cSld>
  <p:clrMapOvr>
    <a:masterClrMapping/>
  </p:clrMapOvr>
  <p:transition spd="med" advTm="0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  <p:transition spd="med" advTm="0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455</Words>
  <Application>Microsoft Office PowerPoint</Application>
  <PresentationFormat>On-screen Show (16:9)</PresentationFormat>
  <Paragraphs>88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guru lakshmi</cp:lastModifiedBy>
  <cp:revision>8</cp:revision>
  <dcterms:created xsi:type="dcterms:W3CDTF">2026-03-20T14:07:00Z</dcterms:created>
  <dcterms:modified xsi:type="dcterms:W3CDTF">2026-03-27T14:50:10Z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E4570DA3F15843C4AADB46B386A3C71E_13</vt:lpwstr>
  </property>
  <property fmtid="{D5CDD505-2E9C-101B-9397-08002B2CF9AE}" pid="3" name="KSOProductBuildVer">
    <vt:lpwstr>1033-12.2.0.23196</vt:lpwstr>
  </property>
</Properties>
</file>